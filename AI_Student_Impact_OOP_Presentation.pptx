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Δ GPA per Jurusan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Rata-rata Perubahan GPA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A2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A2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94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Arts</c:v>
                  </c:pt>
                  <c:pt idx="1">
                    <c:v>Business</c:v>
                  </c:pt>
                  <c:pt idx="2">
                    <c:v>Humanities</c:v>
                  </c:pt>
                  <c:pt idx="3">
                    <c:v>Medical</c:v>
                  </c:pt>
                  <c:pt idx="4">
                    <c:v>STEM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0.1969</c:v>
                </c:pt>
                <c:pt idx="1">
                  <c:v>0.1943</c:v>
                </c:pt>
                <c:pt idx="2">
                  <c:v>0.198</c:v>
                </c:pt>
                <c:pt idx="3">
                  <c:v>0.2014</c:v>
                </c:pt>
                <c:pt idx="4">
                  <c:v>0.2173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Distribusi Burnout Risk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Burnout 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A2A8"/>
              </a:solidFill>
              <a:effectLst/>
            </c:spPr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bubble3D val="0"/>
            <c:spPr>
              <a:solidFill>
                <a:srgbClr val="F4A94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Medium (42.3%)</c:v>
                </c:pt>
                <c:pt idx="1">
                  <c:v>Low (32.7%)</c:v>
                </c:pt>
                <c:pt idx="2">
                  <c:v>High (25.0%)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42.3</c:v>
                </c:pt>
                <c:pt idx="1">
                  <c:v>32.7</c:v>
                </c:pt>
                <c:pt idx="2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High Burnout Rate per Kebijakan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Burnout Rate (%)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A2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Actively
Encouraged</c:v>
                  </c:pt>
                  <c:pt idx="1">
                    <c:v>Allowed with
Citation</c:v>
                  </c:pt>
                  <c:pt idx="2">
                    <c:v>Strict
Ban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23.77</c:v>
                </c:pt>
                <c:pt idx="1">
                  <c:v>23.83</c:v>
                </c:pt>
                <c:pt idx="2">
                  <c:v>29.76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Skill Retention per Prompt Engineering Skill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Skill Retention Score (%)</c:v>
                </c:pt>
              </c:strCache>
            </c:strRef>
          </c:tx>
          <c:spPr>
            <a:solidFill>
              <a:srgbClr val="14A2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A2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94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Beginner</c:v>
                  </c:pt>
                  <c:pt idx="1">
                    <c:v>Intermediate</c:v>
                  </c:pt>
                  <c:pt idx="2">
                    <c:v>Advanced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71.1</c:v>
                </c:pt>
                <c:pt idx="1">
                  <c:v>75.83</c:v>
                </c:pt>
                <c:pt idx="2">
                  <c:v>82.05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Δ GPA per Skill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GPA</c:v>
                </c:pt>
              </c:strCache>
            </c:strRef>
          </c:tx>
          <c:spPr>
            <a:solidFill>
              <a:srgbClr val="14A2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A2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94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Beginner</c:v>
                  </c:pt>
                  <c:pt idx="1">
                    <c:v>Intermediate</c:v>
                  </c:pt>
                  <c:pt idx="2">
                    <c:v>Advanced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0.1852</c:v>
                </c:pt>
                <c:pt idx="1">
                  <c:v>0.1869</c:v>
                </c:pt>
                <c:pt idx="2">
                  <c:v>0.2481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SEMESTER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Dampak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AI Generatif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Performa Akademik Mahasiswa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A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Object-Oriented Programming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7772400" cy="18288"/>
          </a:xfrm>
          <a:prstGeom prst="rect">
            <a:avLst/>
          </a:prstGeom>
          <a:solidFill>
            <a:srgbClr val="14A2A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73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AI Student Impact Dataset  |  50.000 Mahasiswa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Mahasiswa  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Anda]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                      : 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[NIM Anda]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PRESENTASI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0" y="749808"/>
            <a:ext cx="2743200" cy="4572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Rumusan Masalah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27632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276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Manfaat Proyek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95144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95144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951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2951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AI Student Impact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62656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9626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Teori (OOP Concepts)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30168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30168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30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301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 &amp; Arsitektur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97680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97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297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UML (Class Diagram)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960120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960120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960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960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— Model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1627632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1627632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6276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16276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— Service Layer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2295144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2295144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2951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0" y="22951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Analisis Data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2962656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2962656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29626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&amp; Interpretasi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37760" y="3630168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937760" y="3630168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3630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0" y="36301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&amp; Validasi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37760" y="4297680"/>
            <a:ext cx="4114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37760" y="4297680"/>
            <a:ext cx="502920" cy="5486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4297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0" y="4297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7498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AI generatif di kalangan mahasiswa meningkat 300% sejak 2022, mengubah cara belajar secara fundamental.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64008" cy="7498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192024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positif maupun negatif AI terhadap GPA, retensi skill, dan burnout belum dipetakan secara sistematis.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88920"/>
            <a:ext cx="64008" cy="7498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889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278892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50.000 mahasiswa dari berbagai jurusan tersedia untuk dianalisis secara mendalam menggunakan OOP.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57600"/>
            <a:ext cx="64008" cy="7498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6576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65760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OOP memungkinkan sistem analisis yang modular, terstruktur, scalable, dan mudah dikembangkan.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dampak intensitas penggunaan AI terhadap perubahan GPA mahasiswa?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039112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190195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apa yang paling berpengaruh terhadap tingkat burnout risk mahasiswa?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35224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79806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merancang sistem analisis menggunakan OOP yang memenuhi prinsip SOLID?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831336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694176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implementasi Repository Pattern dapat meningkatkan modularitas sistem?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&amp; MANFAAT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konsep OOP pada proyek analisis data nyata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sistem analisis yang modular dengan Repository Pattern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faktor utama yang mempengaruhi performa akademik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insight berbasis data untuk meningkatkan kualitas pendidikan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Akademik: contoh penerapan OOP pada analisis pendidikan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Mahasiswa: pengalaman proyek end-to-end dari data ke insight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Institusi: kebijakan berbasis data terkait penggunaan 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Industri: template sistem analisis yang dapat diadaptasi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AI STUDENT IMPACT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920240" cy="10972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Baris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987552"/>
            <a:ext cx="1920240" cy="10972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87168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Kolom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987552"/>
            <a:ext cx="1920240" cy="10972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08576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9984" y="987552"/>
            <a:ext cx="1920240" cy="10972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9984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9984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Utama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8412480" cy="402336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317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2331720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Major_Category, Year_of_Study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61488"/>
            <a:ext cx="84124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614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276148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Weekly_GenAI_Hours, Primary_Use_Case, Tool_Diversity, Paid_Subscription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191256"/>
            <a:ext cx="8412480" cy="402336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91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Belajar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191256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Traditional_Study_Hours, Prompt_Engineering_Skill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21024"/>
            <a:ext cx="84124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210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14600" y="3621024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Institutional_Policy, Perceived_AI_Dependency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50792"/>
            <a:ext cx="8412480" cy="402336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507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Akademik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405079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Pre/Post_Semester_GPA, Skill_Retention_Score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480560"/>
            <a:ext cx="84124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480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14600" y="4480560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Burnout_Risk_Level (High / Medium / Low)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TEORI — KONSEP OOP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Enkapsulasi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081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Student menyembunyikan validasi &amp; preprocessing internal melalui __post_init__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Pewarisan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4081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BaseStudentAnalyzer diwarisi oleh GPAAnalyzer, BurnoutAnalyzer, AIUsageAnalyzer, RetentionAnalyzer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40280"/>
            <a:ext cx="54864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313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264261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analyze() memiliki implementasi berbeda di setiap subclass analyzer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2402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40280"/>
            <a:ext cx="54864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4965192" y="2313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Abstraksi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264261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BaseStudentAnalyzer memaksa subclass mengimplementasikan analyze()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74720"/>
            <a:ext cx="54864" cy="109728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- SRP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38770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class punya 1 tanggung jawab: Student (model), Repository (data), Analyzer (analisis)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47472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474720"/>
            <a:ext cx="54864" cy="109728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27" name="Text 25"/>
          <p:cNvSpPr/>
          <p:nvPr/>
        </p:nvSpPr>
        <p:spPr>
          <a:xfrm>
            <a:off x="4965192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38770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data access dari business logic, memudahkan testing &amp; maintenance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 &amp; ARSITEKTUR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5-Layer dengan Repository Pattern: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325880"/>
            <a:ext cx="6400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325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(CLI)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1325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Menu interaktif, display, export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AIStudentAnalysisService — Orkestrasi semua analyzer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697480"/>
            <a:ext cx="6400800" cy="548640"/>
          </a:xfrm>
          <a:prstGeom prst="rect">
            <a:avLst/>
          </a:prstGeom>
          <a:solidFill>
            <a:srgbClr val="14A2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697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GPAAnalyzer, BurnoutAnalyzer, AIUsageAnalyzer, RetentionAnalyzer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32461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383280"/>
            <a:ext cx="6400800" cy="54864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383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StudentRepository — Load CSV, query, filter, aggregate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39319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4069080"/>
            <a:ext cx="6400800" cy="54864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7160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@dataclass — Entitas mahasiswa dengan validasi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UML (CLASS DIAGRAM)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987552"/>
            <a:ext cx="2743200" cy="146304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987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&lt;&lt;abstract&gt;&gt;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BaseStudentAnalyzer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149047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analyze(): Dict  (abstract)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_mean(values): float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_rate(count, total): float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2743200"/>
            <a:ext cx="2057400" cy="132588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2743200"/>
            <a:ext cx="205740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GPAAnalyzer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31546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analyze(): Dict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_by_major()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_by_year()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07008" y="2450592"/>
            <a:ext cx="0" cy="292608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423160" y="2743200"/>
            <a:ext cx="2057400" cy="132588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2743200"/>
            <a:ext cx="205740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BurnoutAnalyzer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31546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analyze(): Dict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_by_major()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_by_year()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47288" y="2450592"/>
            <a:ext cx="0" cy="292608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663440" y="2743200"/>
            <a:ext cx="2057400" cy="132588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43200"/>
            <a:ext cx="205740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AIUsageAnalyzer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1546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analyze(): Dict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_by_major()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_by_year()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87568" y="2450592"/>
            <a:ext cx="0" cy="292608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903720" y="2743200"/>
            <a:ext cx="2057400" cy="132588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2743200"/>
            <a:ext cx="205740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RetentionAnalyzer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1546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analyze(): Dict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_by_major()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_by_year()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27848" y="2450592"/>
            <a:ext cx="0" cy="292608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82880" y="98755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987552"/>
            <a:ext cx="2560320" cy="41148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987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StudentRepository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" y="13990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_students: List[Student]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load_from_csv()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filter(predicate)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find_by_major()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— MODEL DATA (models.py)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566160"/>
          </a:xfrm>
          <a:prstGeom prst="rect">
            <a:avLst/>
          </a:prstGeom>
          <a:solidFill>
            <a:srgbClr val="1E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12202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student_id: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major_category: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pre_semester_gpa: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weekly_genai_hours: 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burnout_risk_level: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__post_init__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self._validate()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Enkapsulasi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gpa_change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float: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self.post_semester_gpa - self.pre_semester_gpa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— ANALYZER LAYER (analyzers.py)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566160"/>
          </a:xfrm>
          <a:prstGeom prst="rect">
            <a:avLst/>
          </a:prstGeom>
          <a:solidFill>
            <a:srgbClr val="1E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solidFill>
            <a:srgbClr val="12202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analyzers.py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BaseStudentAnalyzer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(ABC):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Dict:  </a:t>
            </a:r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
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GPAAnalyzer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(BaseStudentAnalyzer):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Dict: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Polimorfisme
        all_changes = [s.gpa_change for s in self._students]
        return {"mean_gpa_change": self._mean(all_changes)}
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BurnoutAnalyzer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(BaseStudentAnalyzer):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Dict: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Polimorfisme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{"by_level": self._burnout_by_level()}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ANALISIS DATA — STATISTIK UTAMA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645920" cy="8686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932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" y="1426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Mahasiswa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914400"/>
            <a:ext cx="1645920" cy="8686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932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Fitur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965960" y="1426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914400"/>
            <a:ext cx="1645920" cy="8686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932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+0.2032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1426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ΔPP GPA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914400"/>
            <a:ext cx="1645920" cy="8686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932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75.80%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32120" y="1426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Skill Retention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914400"/>
            <a:ext cx="1645920" cy="8686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932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24.97%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0" y="1426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Burnout Rate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841248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  <a:gridCol w="1280160"/>
                <a:gridCol w="155448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GPA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GPA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 AI/mgg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Retention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8.43 jam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6.81 jam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jam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 jam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— PERUBAHAN GPA PER JURUSAN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6012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1463040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STEM memiliki ΔPP GPA tertinggi (+0.2173), menunjukkan sinergi terkuat antara AI dan pembelajaran teknis.
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Semua jurusan menunjukkan peningkatan GPA positif, rata-rata +0.20.
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Business memiliki ΔPP GPA terendah (+0.1943), mungkin karena risiko plagiarisme.
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Perbedaan antar jurusan relatif kecil — faktor lain (skill level, policy) lebih dominan.
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— BURNOUT RISK &amp; KEBIJAKAN AI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4114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96012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— SKILL RETENTION &amp; PROMPT ENGINEERING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577840" y="960120"/>
          <a:ext cx="3383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&amp; VALIDASI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105156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784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20240" cy="1051560"/>
          </a:xfrm>
          <a:prstGeom prst="rect">
            <a:avLst/>
          </a:prstGeom>
          <a:solidFill>
            <a:srgbClr val="14A2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9784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15544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Dimuat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920240" cy="1051560"/>
          </a:xfrm>
          <a:prstGeom prst="rect">
            <a:avLst/>
          </a:prstGeom>
          <a:solidFill>
            <a:srgbClr val="F4A9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9784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15544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960120"/>
            <a:ext cx="1920240" cy="1051560"/>
          </a:xfrm>
          <a:prstGeom prst="rect">
            <a:avLst/>
          </a:prstGeom>
          <a:solidFill>
            <a:srgbClr val="1A30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9784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12280" y="15544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Tervalidasi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8412480" cy="2331720"/>
          </a:xfrm>
          <a:prstGeom prst="rect">
            <a:avLst/>
          </a:prstGeom>
          <a:solidFill>
            <a:srgbClr val="1E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48840"/>
            <a:ext cx="8412480" cy="329184"/>
          </a:xfrm>
          <a:prstGeom prst="rect">
            <a:avLst/>
          </a:prstGeom>
          <a:solidFill>
            <a:srgbClr val="12202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148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Unit Test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496312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test_gpa_analyzer_returns_positive_change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 = StudentRepository()
    repo.load_from_csv("ai_student_impact_dataset.csv")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GPAAnalyzer(repo.get_all()).analyze()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result["mean_gpa_change_overall"]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"by_major"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 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PASSED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7040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Skill Level Adalah Kunci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07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users mencapai ΔGPA +0.2481 vs Beginner +0.1852. Kemampuan berinteraksi dengan AI secara efektif lebih penting dari sekadar durasi penggunaan.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55648"/>
            <a:ext cx="64008" cy="7040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92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Strict Ban Meningkatkan Burnout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Strict_Ban menghasilkan high burnout 29.76% — tertinggi. Larangan tanpa edukasi justru meningkatkan tekanan akademik mahasiswa.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51176"/>
            <a:ext cx="64008" cy="7040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Tidak Menurunkan Skill Retention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users memiliki skill retention 82.05% vs Beginner 71.10%. Penggunaan AI yang tepat justru memperkuat pemahaman mendalam.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46704"/>
            <a:ext cx="64008" cy="7040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OOP Memudahkan Ekstensibilitas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BaseStudentAnalyzer, menambah analyzer baru cukup membuat subclass — tidak perlu mengubah kode existing (Open-Closed Principle).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42232"/>
            <a:ext cx="841248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42232"/>
            <a:ext cx="64008" cy="70408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78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Keterbatasan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89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cross-sectional; tidak ada data longitudinal. Tidak terdapat variabel kepuasan mahasiswa (CSAT) sebagai konfounding.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43891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utama peningkatan GPA: skill prompt engineering (Advanced +0.248 vs Beginner +0.185)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Strict_Ban menghasilkan burnout tertinggi (29.76%) — sebaliknya dari tujuannya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users memiliki skill retention 82% — AI tidak mengurangi pemahaman jika digunakan tepat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berhasil memisahkan data access dari business logic sesuai SRP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unit tests passed, kode terstruktur modular dan extensible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60520" cy="438912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9601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481328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ML model (Random Forest) untuk prediksi burnout risk individual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dashboard interaktif dengan Streamlit untuk real-time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 data longitudinal (time-series) untuk analisis tren semester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fitur clustering mahasiswa berdasarkan pola penggunaan 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Integrasikan data CSAT/NPS sebagai variabel kepuasan mahasiswa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APLIKASI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212080" cy="3657600"/>
          </a:xfrm>
          <a:prstGeom prst="rect">
            <a:avLst/>
          </a:prstGeom>
          <a:solidFill>
            <a:srgbClr val="1E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212080" cy="329184"/>
          </a:xfrm>
          <a:prstGeom prst="rect">
            <a:avLst/>
          </a:prstGeom>
          <a:solidFill>
            <a:srgbClr val="12202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Program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 STUDENT IMPACT ANALYSIS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Object-Oriented Programming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Loading dataset...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Loaded: 50,000 | Skipped: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Overview: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 Pre GPA : 3.1461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 Post GPA: 3.3493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 Δ GPA   : +0.2032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GPA by Major: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STEM      : +0.2173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Medical   : +0.2014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Humanities: +0.1980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Arts      : +0.1969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Business  : +0.1943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Burnout High Rate: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Strict Ban    : 29.76%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Allowed+Cite  : 23.83%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Encouraged    : 23.77%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10/10 tests passed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06440" y="91440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914400"/>
            <a:ext cx="3017520" cy="41148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914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Menjalankan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417320"/>
            <a:ext cx="2834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Clone/copy project folder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Letakkan dataset CSV di folder yang sama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pip install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python main.py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tersedia: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Overview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Analisis GPA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Analisis Burnout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Analisis AI Usage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Skill Retention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Semua analisis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 Export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 Unit 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PUSTAKA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420624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AI Student Impact Dataset. (2024). Kaggle Dataset.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9961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Python Software Foundation. (2026). Python Documentation. https://docs.python.org/3/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8412480" cy="420624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933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Gamma, E., et al. (1994). Design Patterns: Elements of Reusable Object-Oriented Software. Addison-Wesley.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87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Martin, R. C. (2008). Clean Code: A Handbook of Agile Software Craftsmanship. Prentice Hall.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8412480" cy="420624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809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McKinney, W. (2022). Python for Data Analysis (3rd ed.). O'Reilly Media.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747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Pramono, A. (2026). Pemrograman Berorientasi Objek Menggunakan Python. Universitas Mulawarman.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8412480" cy="420624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684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Chen, L. et al. (2024). Generative AI in Higher Education: Benefits and Risks. Journal of EdTech, 12(3).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462272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46227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OpenAI. (2024). Impact of AI Tools on Student Academic Performance. Technical Report.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864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2026  |  Analisis Dampak AI pada Mahasiswa  |  Informatika  |  Universitas Mulawarman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55280" y="4864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4A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&amp; Diskusi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2743200"/>
            <a:ext cx="36576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"Kode bukan hanya tentang mesin yang mengerti,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tentang manusia yang bisa membacanya."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Dampak AI pada Mahasiswa menggunakan OOP  |  PBO 2026  |  Informatika  |  Universitas Mulawarman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Dampak AI pada Mahasiswa - OOP</dc:title>
  <dc:subject>PptxGenJS Presentation</dc:subject>
  <dc:creator>AI Student Impact Analysis</dc:creator>
  <cp:lastModifiedBy>AI Student Impact Analysis</cp:lastModifiedBy>
  <cp:revision>1</cp:revision>
  <dcterms:created xsi:type="dcterms:W3CDTF">2026-05-30T23:27:12Z</dcterms:created>
  <dcterms:modified xsi:type="dcterms:W3CDTF">2026-05-30T23:27:12Z</dcterms:modified>
</cp:coreProperties>
</file>